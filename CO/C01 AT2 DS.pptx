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Barlow Bold" panose="020B0604020202020204" charset="0"/>
      <p:regular r:id="rId13"/>
    </p:embeddedFont>
    <p:embeddedFont>
      <p:font typeface="Montserrat" panose="00000500000000000000" pitchFamily="2" charset="0"/>
      <p:regular r:id="rId14"/>
      <p:italic r:id="rId15"/>
    </p:embeddedFont>
    <p:embeddedFont>
      <p:font typeface="Montserrat Bold" panose="00000800000000000000" charset="0"/>
      <p:regular r:id="rId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234673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sv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3550" y="0"/>
            <a:ext cx="3600450" cy="51435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957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30760" y="100000"/>
                </a:lnTo>
                <a:lnTo>
                  <a:pt x="26370" y="95510"/>
                </a:lnTo>
                <a:lnTo>
                  <a:pt x="26370" y="95310"/>
                </a:lnTo>
                <a:lnTo>
                  <a:pt x="25490" y="94530"/>
                </a:lnTo>
                <a:lnTo>
                  <a:pt x="25490" y="94340"/>
                </a:lnTo>
                <a:lnTo>
                  <a:pt x="22660" y="91210"/>
                </a:lnTo>
                <a:lnTo>
                  <a:pt x="18360" y="85550"/>
                </a:lnTo>
                <a:lnTo>
                  <a:pt x="15140" y="80660"/>
                </a:lnTo>
                <a:lnTo>
                  <a:pt x="11910" y="75000"/>
                </a:lnTo>
                <a:lnTo>
                  <a:pt x="9280" y="69530"/>
                </a:lnTo>
                <a:lnTo>
                  <a:pt x="6840" y="63380"/>
                </a:lnTo>
                <a:lnTo>
                  <a:pt x="4790" y="56740"/>
                </a:lnTo>
                <a:lnTo>
                  <a:pt x="3320" y="50200"/>
                </a:lnTo>
                <a:lnTo>
                  <a:pt x="2440" y="44140"/>
                </a:lnTo>
                <a:lnTo>
                  <a:pt x="2050" y="39060"/>
                </a:lnTo>
                <a:lnTo>
                  <a:pt x="2050" y="30860"/>
                </a:lnTo>
                <a:lnTo>
                  <a:pt x="2540" y="25000"/>
                </a:lnTo>
                <a:lnTo>
                  <a:pt x="3320" y="19820"/>
                </a:lnTo>
                <a:lnTo>
                  <a:pt x="4880" y="12890"/>
                </a:lnTo>
                <a:lnTo>
                  <a:pt x="6930" y="635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473943" y="1747019"/>
            <a:ext cx="4767114" cy="779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Data Structures in Real-World Applications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473943" y="2704133"/>
            <a:ext cx="4767114" cy="3790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technical exploration of how </a:t>
            </a:r>
            <a:r>
              <a:rPr lang="en-US" sz="900" dirty="0">
                <a:solidFill>
                  <a:srgbClr val="75BA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Doubly Linked Lists</a:t>
            </a: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</a:t>
            </a:r>
            <a:r>
              <a:rPr lang="en-US" sz="900" dirty="0">
                <a:solidFill>
                  <a:srgbClr val="75BA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Hash Maps</a:t>
            </a: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and </a:t>
            </a:r>
            <a:r>
              <a:rPr lang="en-US" sz="900" dirty="0">
                <a:solidFill>
                  <a:srgbClr val="75BA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Priority Queues</a:t>
            </a: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power music streaming, dictionary search, and task scheduling systems.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73943" y="4140566"/>
            <a:ext cx="1843236" cy="490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400" b="1" dirty="0"/>
              <a:t>Name</a:t>
            </a:r>
            <a:r>
              <a:rPr lang="en-US" sz="1400" dirty="0"/>
              <a:t> : Deekshith. T</a:t>
            </a:r>
          </a:p>
          <a:p>
            <a:pPr marL="0" indent="0" algn="l">
              <a:lnSpc>
                <a:spcPct val="96000"/>
              </a:lnSpc>
              <a:buNone/>
            </a:pPr>
            <a:r>
              <a:rPr lang="en-US" sz="1400" b="1" dirty="0"/>
              <a:t>Reg No </a:t>
            </a:r>
            <a:r>
              <a:rPr lang="en-US" sz="1400" dirty="0"/>
              <a:t>: 192425145</a:t>
            </a:r>
          </a:p>
          <a:p>
            <a:pPr marL="0" indent="0" algn="l">
              <a:lnSpc>
                <a:spcPct val="96000"/>
              </a:lnSpc>
              <a:buNone/>
            </a:pPr>
            <a:endParaRPr lang="en-US" sz="700" dirty="0"/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8828C77B-75C6-2C87-16B3-BDDA16FF855C}"/>
              </a:ext>
            </a:extLst>
          </p:cNvPr>
          <p:cNvSpPr/>
          <p:nvPr/>
        </p:nvSpPr>
        <p:spPr>
          <a:xfrm>
            <a:off x="3397821" y="4140565"/>
            <a:ext cx="1843236" cy="490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endParaRPr lang="en-US" sz="700" dirty="0"/>
          </a:p>
        </p:txBody>
      </p:sp>
      <p:sp>
        <p:nvSpPr>
          <p:cNvPr id="12" name="Text 5">
            <a:extLst>
              <a:ext uri="{FF2B5EF4-FFF2-40B4-BE49-F238E27FC236}">
                <a16:creationId xmlns:a16="http://schemas.microsoft.com/office/drawing/2014/main" id="{62C9D393-5A15-ACF0-BEEB-C8C4BA0CA958}"/>
              </a:ext>
            </a:extLst>
          </p:cNvPr>
          <p:cNvSpPr/>
          <p:nvPr/>
        </p:nvSpPr>
        <p:spPr>
          <a:xfrm>
            <a:off x="3179029" y="4140564"/>
            <a:ext cx="1843236" cy="490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400" b="1" dirty="0"/>
              <a:t>Course : </a:t>
            </a:r>
            <a:r>
              <a:rPr lang="en-US" sz="1400" dirty="0"/>
              <a:t>Data Structures</a:t>
            </a:r>
          </a:p>
          <a:p>
            <a:pPr marL="0" indent="0" algn="l">
              <a:lnSpc>
                <a:spcPct val="96000"/>
              </a:lnSpc>
              <a:buNone/>
            </a:pPr>
            <a:r>
              <a:rPr lang="en-US" sz="1400" b="1" dirty="0"/>
              <a:t>Code : </a:t>
            </a:r>
            <a:r>
              <a:rPr lang="en-US" sz="1400" dirty="0"/>
              <a:t>CSA0303</a:t>
            </a:r>
          </a:p>
          <a:p>
            <a:pPr marL="0" indent="0" algn="l">
              <a:lnSpc>
                <a:spcPct val="96000"/>
              </a:lnSpc>
              <a:buNone/>
            </a:pP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3943" y="1062335"/>
            <a:ext cx="857176" cy="180008"/>
          </a:xfrm>
          <a:prstGeom prst="roundRect">
            <a:avLst>
              <a:gd name="adj" fmla="val 78988"/>
            </a:avLst>
          </a:prstGeom>
          <a:solidFill>
            <a:srgbClr val="D4E9F7"/>
          </a:solidFill>
          <a:ln/>
        </p:spPr>
      </p:sp>
      <p:sp>
        <p:nvSpPr>
          <p:cNvPr id="3" name="Text 1"/>
          <p:cNvSpPr/>
          <p:nvPr/>
        </p:nvSpPr>
        <p:spPr>
          <a:xfrm>
            <a:off x="545009" y="1097831"/>
            <a:ext cx="1172245" cy="109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APPLICATION 1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73943" y="1289670"/>
            <a:ext cx="8196114" cy="389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Music Streaming Playlist</a:t>
            </a:r>
            <a:endParaRPr lang="en-US" sz="2450" dirty="0"/>
          </a:p>
        </p:txBody>
      </p:sp>
      <p:sp>
        <p:nvSpPr>
          <p:cNvPr id="5" name="Text 3"/>
          <p:cNvSpPr/>
          <p:nvPr/>
        </p:nvSpPr>
        <p:spPr>
          <a:xfrm>
            <a:off x="473943" y="1857077"/>
            <a:ext cx="8196114" cy="5685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music streaming app needs to </a:t>
            </a:r>
            <a:r>
              <a:rPr lang="en-US" sz="900" b="1" dirty="0">
                <a:solidFill>
                  <a:srgbClr val="38465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add, remove, and reorder songs</a:t>
            </a: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in a playlist dynamically. The data structure must support efficient insertions and deletions at arbitrary positions, allow bidirectional traversal (previous/next song), and handle a changing number of elements without fixed-size constraints.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73943" y="2558951"/>
            <a:ext cx="4038823" cy="701873"/>
          </a:xfrm>
          <a:prstGeom prst="roundRect">
            <a:avLst>
              <a:gd name="adj" fmla="val 25322"/>
            </a:avLst>
          </a:prstGeom>
          <a:solidFill>
            <a:srgbClr val="D4E9F7"/>
          </a:solidFill>
          <a:ln w="4763">
            <a:solidFill>
              <a:srgbClr val="BACF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7173" y="2682180"/>
            <a:ext cx="3792364" cy="194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Add Songs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7173" y="2948062"/>
            <a:ext cx="3792364" cy="1895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Insert at any position — beginning, middle, or end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631234" y="2558951"/>
            <a:ext cx="4038823" cy="701873"/>
          </a:xfrm>
          <a:prstGeom prst="roundRect">
            <a:avLst>
              <a:gd name="adj" fmla="val 25322"/>
            </a:avLst>
          </a:prstGeom>
          <a:solidFill>
            <a:srgbClr val="D4E9F7"/>
          </a:solidFill>
          <a:ln w="4763">
            <a:solidFill>
              <a:srgbClr val="BACF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463" y="2682180"/>
            <a:ext cx="3792364" cy="194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Remove Songs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54463" y="2948062"/>
            <a:ext cx="3792364" cy="1895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Delete a track without shifting all other elements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73943" y="3379291"/>
            <a:ext cx="4038823" cy="701873"/>
          </a:xfrm>
          <a:prstGeom prst="roundRect">
            <a:avLst>
              <a:gd name="adj" fmla="val 25322"/>
            </a:avLst>
          </a:prstGeom>
          <a:solidFill>
            <a:srgbClr val="D4E9F7"/>
          </a:solidFill>
          <a:ln w="4763">
            <a:solidFill>
              <a:srgbClr val="BACF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7173" y="3502521"/>
            <a:ext cx="3792364" cy="194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Reorder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97173" y="3768403"/>
            <a:ext cx="3792364" cy="1895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Move songs up or down the playlist freely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31234" y="3379291"/>
            <a:ext cx="4038823" cy="701873"/>
          </a:xfrm>
          <a:prstGeom prst="roundRect">
            <a:avLst>
              <a:gd name="adj" fmla="val 25322"/>
            </a:avLst>
          </a:prstGeom>
          <a:solidFill>
            <a:srgbClr val="D4E9F7"/>
          </a:solidFill>
          <a:ln w="4763">
            <a:solidFill>
              <a:srgbClr val="BACFD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463" y="3502521"/>
            <a:ext cx="3792364" cy="194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Traverse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54463" y="3768403"/>
            <a:ext cx="3792364" cy="1895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Support forward (next) and backward (previous) navigation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3943" y="1240334"/>
            <a:ext cx="1979265" cy="180008"/>
          </a:xfrm>
          <a:prstGeom prst="roundRect">
            <a:avLst>
              <a:gd name="adj" fmla="val 78988"/>
            </a:avLst>
          </a:prstGeom>
          <a:solidFill>
            <a:srgbClr val="D4E9F7"/>
          </a:solidFill>
          <a:ln/>
        </p:spPr>
      </p:sp>
      <p:sp>
        <p:nvSpPr>
          <p:cNvPr id="3" name="Text 1"/>
          <p:cNvSpPr/>
          <p:nvPr/>
        </p:nvSpPr>
        <p:spPr>
          <a:xfrm>
            <a:off x="545009" y="1275829"/>
            <a:ext cx="2294334" cy="109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APPLICATION 1 — RECOMMENDATION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73943" y="1467669"/>
            <a:ext cx="8196114" cy="389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Recommended: Doubly Linked List</a:t>
            </a:r>
            <a:endParaRPr lang="en-US" sz="2450" dirty="0"/>
          </a:p>
        </p:txBody>
      </p:sp>
      <p:sp>
        <p:nvSpPr>
          <p:cNvPr id="5" name="Text 3"/>
          <p:cNvSpPr/>
          <p:nvPr/>
        </p:nvSpPr>
        <p:spPr>
          <a:xfrm>
            <a:off x="473943" y="2035076"/>
            <a:ext cx="8196114" cy="3790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</a:t>
            </a:r>
            <a:r>
              <a:rPr lang="en-US" sz="900" b="1" dirty="0">
                <a:solidFill>
                  <a:srgbClr val="38465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Doubly Linked List</a:t>
            </a: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is the ideal data structure for a dynamic playlist. Each node stores a song and maintains </a:t>
            </a:r>
            <a:r>
              <a:rPr lang="en-US" sz="900" dirty="0">
                <a:solidFill>
                  <a:srgbClr val="2589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two pointers</a:t>
            </a: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— one to the next song and one to the previous song — enabling seamless bidirectional navigation.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88665" y="2547417"/>
            <a:ext cx="4124102" cy="1355675"/>
          </a:xfrm>
          <a:prstGeom prst="roundRect">
            <a:avLst>
              <a:gd name="adj" fmla="val 20976"/>
            </a:avLst>
          </a:prstGeom>
          <a:solidFill>
            <a:srgbClr val="063E5F"/>
          </a:solidFill>
          <a:ln/>
        </p:spPr>
      </p:sp>
      <p:sp>
        <p:nvSpPr>
          <p:cNvPr id="7" name="Text 5"/>
          <p:cNvSpPr/>
          <p:nvPr/>
        </p:nvSpPr>
        <p:spPr>
          <a:xfrm>
            <a:off x="507132" y="2665884"/>
            <a:ext cx="3887167" cy="194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Why Doubly Linked?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7132" y="2979167"/>
            <a:ext cx="3887167" cy="8824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82880" indent="-182880" algn="l">
              <a:lnSpc>
                <a:spcPct val="133000"/>
              </a:lnSpc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O(1) insertion/deletion at head and tail</a:t>
            </a:r>
            <a:endParaRPr lang="en-US" sz="900" dirty="0"/>
          </a:p>
          <a:p>
            <a:pPr marL="182880" indent="-182880" algn="l">
              <a:lnSpc>
                <a:spcPct val="133000"/>
              </a:lnSpc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O(1) removal given a node reference</a:t>
            </a:r>
            <a:endParaRPr lang="en-US" sz="900" dirty="0"/>
          </a:p>
          <a:p>
            <a:pPr marL="182880" indent="-182880" algn="l">
              <a:lnSpc>
                <a:spcPct val="133000"/>
              </a:lnSpc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 array resizing or element shifting</a:t>
            </a:r>
            <a:endParaRPr lang="en-US" sz="900" dirty="0"/>
          </a:p>
          <a:p>
            <a:pPr marL="182880" indent="-182880" algn="l">
              <a:lnSpc>
                <a:spcPct val="133000"/>
              </a:lnSpc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Memory allocated dynamically per song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721275" y="2665884"/>
            <a:ext cx="3953545" cy="194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Key Operations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21275" y="2979167"/>
            <a:ext cx="3953545" cy="8824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82880" indent="-182880" algn="l">
              <a:lnSpc>
                <a:spcPct val="133000"/>
              </a:lnSpc>
              <a:buSzPct val="100000"/>
              <a:buChar char="•"/>
            </a:pPr>
            <a:r>
              <a:rPr lang="en-US" sz="900" b="1" dirty="0">
                <a:solidFill>
                  <a:srgbClr val="38465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Play Next:</a:t>
            </a: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Follow the </a:t>
            </a:r>
            <a:r>
              <a:rPr lang="en-US" sz="900" i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next</a:t>
            </a: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pointer</a:t>
            </a:r>
            <a:endParaRPr lang="en-US" sz="900" dirty="0"/>
          </a:p>
          <a:p>
            <a:pPr marL="182880" indent="-182880" algn="l">
              <a:lnSpc>
                <a:spcPct val="133000"/>
              </a:lnSpc>
              <a:buSzPct val="100000"/>
              <a:buChar char="•"/>
            </a:pPr>
            <a:r>
              <a:rPr lang="en-US" sz="900" b="1" dirty="0">
                <a:solidFill>
                  <a:srgbClr val="38465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Play Previous:</a:t>
            </a: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Follow the </a:t>
            </a:r>
            <a:r>
              <a:rPr lang="en-US" sz="900" i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prev</a:t>
            </a: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pointer</a:t>
            </a:r>
            <a:endParaRPr lang="en-US" sz="900" dirty="0"/>
          </a:p>
          <a:p>
            <a:pPr marL="182880" indent="-182880" algn="l">
              <a:lnSpc>
                <a:spcPct val="133000"/>
              </a:lnSpc>
              <a:buSzPct val="100000"/>
              <a:buChar char="•"/>
            </a:pPr>
            <a:r>
              <a:rPr lang="en-US" sz="900" b="1" dirty="0">
                <a:solidFill>
                  <a:srgbClr val="38465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Add to Queue:</a:t>
            </a: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Insert at tail in O(1)</a:t>
            </a:r>
            <a:endParaRPr lang="en-US" sz="900" dirty="0"/>
          </a:p>
          <a:p>
            <a:pPr marL="182880" indent="-182880" algn="l">
              <a:lnSpc>
                <a:spcPct val="133000"/>
              </a:lnSpc>
              <a:buSzPct val="100000"/>
              <a:buChar char="•"/>
            </a:pPr>
            <a:r>
              <a:rPr lang="en-US" sz="900" b="1" dirty="0">
                <a:solidFill>
                  <a:srgbClr val="38465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Remove Song:</a:t>
            </a: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Relink neighbors in O(1)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3943" y="376089"/>
            <a:ext cx="1426146" cy="149051"/>
          </a:xfrm>
          <a:prstGeom prst="roundRect">
            <a:avLst>
              <a:gd name="adj" fmla="val 78998"/>
            </a:avLst>
          </a:prstGeom>
          <a:solidFill>
            <a:srgbClr val="D4E9F7"/>
          </a:solidFill>
          <a:ln/>
        </p:spPr>
      </p:sp>
      <p:sp>
        <p:nvSpPr>
          <p:cNvPr id="3" name="Text 1"/>
          <p:cNvSpPr/>
          <p:nvPr/>
        </p:nvSpPr>
        <p:spPr>
          <a:xfrm>
            <a:off x="532805" y="405482"/>
            <a:ext cx="1765622" cy="90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6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APPLICATION 1 — JUSTIFICATION</a:t>
            </a:r>
            <a:endParaRPr lang="en-US" sz="600" dirty="0"/>
          </a:p>
        </p:txBody>
      </p:sp>
      <p:sp>
        <p:nvSpPr>
          <p:cNvPr id="4" name="Text 2"/>
          <p:cNvSpPr/>
          <p:nvPr/>
        </p:nvSpPr>
        <p:spPr>
          <a:xfrm>
            <a:off x="473943" y="557585"/>
            <a:ext cx="8196114" cy="322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Flexibility &amp; Efficiency Analysis</a:t>
            </a:r>
            <a:endParaRPr lang="en-US" sz="20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3943" y="1002134"/>
            <a:ext cx="2677864" cy="10089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3458" y="1114499"/>
            <a:ext cx="2395984" cy="161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Dynamic Size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643458" y="1324570"/>
            <a:ext cx="2395984" cy="5741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7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Unlike arrays, a linked list grows and shrinks at runtime with no pre-allocation. Songs are added or removed without reallocating the entire structure — critical for user-driven playlists.</a:t>
            </a:r>
            <a:endParaRPr lang="en-US" sz="7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32993" y="1002134"/>
            <a:ext cx="2677939" cy="10089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402509" y="1114499"/>
            <a:ext cx="2396058" cy="161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Efficient Reordering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3402509" y="1324570"/>
            <a:ext cx="2396058" cy="5741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7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Moving a song involves only pointer updates (O(1) given node reference), not shifting thousands of array elements. This makes drag-and-drop reordering extremely efficient.</a:t>
            </a:r>
            <a:endParaRPr lang="en-US" sz="7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92118" y="1002134"/>
            <a:ext cx="2677939" cy="100898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161633" y="1114499"/>
            <a:ext cx="2396058" cy="161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Memory Trade-off</a:t>
            </a:r>
            <a:endParaRPr lang="en-US" sz="1000" dirty="0"/>
          </a:p>
        </p:txBody>
      </p:sp>
      <p:sp>
        <p:nvSpPr>
          <p:cNvPr id="13" name="Text 8"/>
          <p:cNvSpPr/>
          <p:nvPr/>
        </p:nvSpPr>
        <p:spPr>
          <a:xfrm>
            <a:off x="6161633" y="1324570"/>
            <a:ext cx="2396058" cy="5741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7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Each node uses extra memory for two pointers, but this is negligible compared to the flexibility gained. Random access is O(n), but playlist apps rarely need it.</a:t>
            </a:r>
            <a:endParaRPr lang="en-US" sz="75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1257" y="2102495"/>
            <a:ext cx="7361411" cy="266484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431644" y="4110702"/>
            <a:ext cx="1941048" cy="242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Remove Song</a:t>
            </a:r>
            <a:endParaRPr lang="en-US" sz="1500" dirty="0"/>
          </a:p>
        </p:txBody>
      </p:sp>
      <p:sp>
        <p:nvSpPr>
          <p:cNvPr id="16" name="Text 10"/>
          <p:cNvSpPr/>
          <p:nvPr/>
        </p:nvSpPr>
        <p:spPr>
          <a:xfrm>
            <a:off x="1431644" y="3307492"/>
            <a:ext cx="1941048" cy="242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Navigate</a:t>
            </a:r>
            <a:endParaRPr lang="en-US" sz="1500" dirty="0"/>
          </a:p>
        </p:txBody>
      </p:sp>
      <p:sp>
        <p:nvSpPr>
          <p:cNvPr id="17" name="Text 11"/>
          <p:cNvSpPr/>
          <p:nvPr/>
        </p:nvSpPr>
        <p:spPr>
          <a:xfrm>
            <a:off x="1431644" y="2496087"/>
            <a:ext cx="1941048" cy="242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Add Song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600450" cy="51435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90530" y="100"/>
                </a:lnTo>
                <a:lnTo>
                  <a:pt x="93070" y="6350"/>
                </a:lnTo>
                <a:lnTo>
                  <a:pt x="94920" y="12210"/>
                </a:lnTo>
                <a:lnTo>
                  <a:pt x="96680" y="19820"/>
                </a:lnTo>
                <a:lnTo>
                  <a:pt x="97560" y="25880"/>
                </a:lnTo>
                <a:lnTo>
                  <a:pt x="97950" y="30960"/>
                </a:lnTo>
                <a:lnTo>
                  <a:pt x="97950" y="39060"/>
                </a:lnTo>
                <a:lnTo>
                  <a:pt x="97270" y="46480"/>
                </a:lnTo>
                <a:lnTo>
                  <a:pt x="96190" y="52640"/>
                </a:lnTo>
                <a:lnTo>
                  <a:pt x="94730" y="58500"/>
                </a:lnTo>
                <a:lnTo>
                  <a:pt x="92480" y="65230"/>
                </a:lnTo>
                <a:lnTo>
                  <a:pt x="89550" y="72070"/>
                </a:lnTo>
                <a:lnTo>
                  <a:pt x="86820" y="77340"/>
                </a:lnTo>
                <a:lnTo>
                  <a:pt x="83500" y="82810"/>
                </a:lnTo>
                <a:lnTo>
                  <a:pt x="79200" y="88870"/>
                </a:lnTo>
                <a:lnTo>
                  <a:pt x="75880" y="92770"/>
                </a:lnTo>
                <a:lnTo>
                  <a:pt x="75880" y="92970"/>
                </a:lnTo>
                <a:lnTo>
                  <a:pt x="74510" y="94340"/>
                </a:lnTo>
                <a:lnTo>
                  <a:pt x="74510" y="94530"/>
                </a:lnTo>
                <a:lnTo>
                  <a:pt x="69240" y="100000"/>
                </a:lnTo>
                <a:lnTo>
                  <a:pt x="0" y="100000"/>
                </a:lnTo>
                <a:close/>
              </a:path>
            </a:pathLst>
          </a:custGeom>
        </p:spPr>
      </p:pic>
      <p:sp>
        <p:nvSpPr>
          <p:cNvPr id="3" name="Shape 0"/>
          <p:cNvSpPr/>
          <p:nvPr/>
        </p:nvSpPr>
        <p:spPr>
          <a:xfrm>
            <a:off x="3902943" y="367978"/>
            <a:ext cx="1441252" cy="171599"/>
          </a:xfrm>
          <a:prstGeom prst="roundRect">
            <a:avLst>
              <a:gd name="adj" fmla="val 78975"/>
            </a:avLst>
          </a:prstGeom>
          <a:solidFill>
            <a:srgbClr val="D4E9F7"/>
          </a:solidFill>
          <a:ln/>
        </p:spPr>
      </p:sp>
      <p:sp>
        <p:nvSpPr>
          <p:cNvPr id="4" name="Text 1"/>
          <p:cNvSpPr/>
          <p:nvPr/>
        </p:nvSpPr>
        <p:spPr>
          <a:xfrm>
            <a:off x="3970660" y="401836"/>
            <a:ext cx="1763018" cy="1038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APPLICATION 1 — SUMMARY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3902943" y="582588"/>
            <a:ext cx="4767114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Key Takeaways: Playlist Data Structure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3902943" y="1543348"/>
            <a:ext cx="2316287" cy="372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9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O(1)</a:t>
            </a:r>
            <a:endParaRPr lang="en-US" sz="2900" dirty="0"/>
          </a:p>
        </p:txBody>
      </p:sp>
      <p:sp>
        <p:nvSpPr>
          <p:cNvPr id="7" name="Text 4"/>
          <p:cNvSpPr/>
          <p:nvPr/>
        </p:nvSpPr>
        <p:spPr>
          <a:xfrm>
            <a:off x="3902943" y="2053084"/>
            <a:ext cx="2316287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Insert/Delete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3902943" y="2303338"/>
            <a:ext cx="2316287" cy="176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8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At head or tail given node reference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6353770" y="1543348"/>
            <a:ext cx="2316287" cy="372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9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O(n)</a:t>
            </a:r>
            <a:endParaRPr lang="en-US" sz="2900" dirty="0"/>
          </a:p>
        </p:txBody>
      </p:sp>
      <p:sp>
        <p:nvSpPr>
          <p:cNvPr id="10" name="Text 7"/>
          <p:cNvSpPr/>
          <p:nvPr/>
        </p:nvSpPr>
        <p:spPr>
          <a:xfrm>
            <a:off x="6353770" y="2053084"/>
            <a:ext cx="2316287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Random Access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6353770" y="2303338"/>
            <a:ext cx="2316287" cy="1764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8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Acceptable trade-off for playlists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5128320" y="2751386"/>
            <a:ext cx="2316287" cy="372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29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2</a:t>
            </a:r>
            <a:endParaRPr lang="en-US" sz="2900" dirty="0"/>
          </a:p>
        </p:txBody>
      </p:sp>
      <p:sp>
        <p:nvSpPr>
          <p:cNvPr id="13" name="Text 10"/>
          <p:cNvSpPr/>
          <p:nvPr/>
        </p:nvSpPr>
        <p:spPr>
          <a:xfrm>
            <a:off x="5128320" y="3261122"/>
            <a:ext cx="2316287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Pointers/Node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5128320" y="3511376"/>
            <a:ext cx="2316287" cy="352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8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Next and Previous for bidirectional traversal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3902943" y="3985320"/>
            <a:ext cx="4767114" cy="790129"/>
          </a:xfrm>
          <a:prstGeom prst="roundRect">
            <a:avLst>
              <a:gd name="adj" fmla="val 21439"/>
            </a:avLst>
          </a:prstGeom>
          <a:solidFill>
            <a:srgbClr val="D4E9F7"/>
          </a:solidFill>
          <a:ln/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15829" y="4146649"/>
            <a:ext cx="141163" cy="112886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269879" y="4121125"/>
            <a:ext cx="4287292" cy="529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Conclusion:</a:t>
            </a:r>
            <a:r>
              <a:rPr lang="en-US" sz="8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The Doubly Linked List's dynamic memory, O(1) insertions/deletions, and bidirectional pointers make it the most suitable structure for a real-world music playlist system.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3943" y="1500932"/>
            <a:ext cx="876821" cy="180008"/>
          </a:xfrm>
          <a:prstGeom prst="roundRect">
            <a:avLst>
              <a:gd name="adj" fmla="val 78988"/>
            </a:avLst>
          </a:prstGeom>
          <a:solidFill>
            <a:srgbClr val="D4E9F7"/>
          </a:solidFill>
          <a:ln/>
        </p:spPr>
      </p:sp>
      <p:sp>
        <p:nvSpPr>
          <p:cNvPr id="3" name="Text 1"/>
          <p:cNvSpPr/>
          <p:nvPr/>
        </p:nvSpPr>
        <p:spPr>
          <a:xfrm>
            <a:off x="545009" y="1536427"/>
            <a:ext cx="1191890" cy="109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APPLICATION 2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73943" y="1728267"/>
            <a:ext cx="8196114" cy="389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Dictionary Word Search</a:t>
            </a:r>
            <a:endParaRPr lang="en-US" sz="2450" dirty="0"/>
          </a:p>
        </p:txBody>
      </p:sp>
      <p:sp>
        <p:nvSpPr>
          <p:cNvPr id="5" name="Text 3"/>
          <p:cNvSpPr/>
          <p:nvPr/>
        </p:nvSpPr>
        <p:spPr>
          <a:xfrm>
            <a:off x="473943" y="2295674"/>
            <a:ext cx="8196114" cy="3790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dictionary application must </a:t>
            </a:r>
            <a:r>
              <a:rPr lang="en-US" sz="900" b="1" dirty="0">
                <a:solidFill>
                  <a:srgbClr val="38465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instantly verify if a word exists</a:t>
            </a: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in its database. With potentially millions of entries, the data structure must deliver near-constant-time lookups regardless of database size, while also supporting insertions of new words efficiently.</a:t>
            </a:r>
            <a:endParaRPr lang="en-US" sz="9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3943" y="2808015"/>
            <a:ext cx="296168" cy="2961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8195" y="2808015"/>
            <a:ext cx="2189038" cy="194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Speed Requirement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918195" y="3073896"/>
            <a:ext cx="2189038" cy="5685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Lookup must be O(1) or O(log n) — users expect instant results even with millions of words.</a:t>
            </a:r>
            <a:endParaRPr lang="en-US" sz="9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55318" y="2808015"/>
            <a:ext cx="296168" cy="29616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699570" y="2808015"/>
            <a:ext cx="2189038" cy="194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Scale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3699570" y="3073896"/>
            <a:ext cx="2189038" cy="5685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English dictionaries contain 170,000+ words; the structure must scale without performance degradation.</a:t>
            </a:r>
            <a:endParaRPr lang="en-US" sz="9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36692" y="2808015"/>
            <a:ext cx="296168" cy="29616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480944" y="2808015"/>
            <a:ext cx="2189113" cy="194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Dynamic Updates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6480944" y="3073896"/>
            <a:ext cx="2189113" cy="5685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New words (slang, technical terms) are added regularly; insertion must also be efficient.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3943" y="1240334"/>
            <a:ext cx="1998836" cy="180008"/>
          </a:xfrm>
          <a:prstGeom prst="roundRect">
            <a:avLst>
              <a:gd name="adj" fmla="val 78988"/>
            </a:avLst>
          </a:prstGeom>
          <a:solidFill>
            <a:srgbClr val="D4E9F7"/>
          </a:solidFill>
          <a:ln/>
        </p:spPr>
      </p:sp>
      <p:sp>
        <p:nvSpPr>
          <p:cNvPr id="3" name="Text 1"/>
          <p:cNvSpPr/>
          <p:nvPr/>
        </p:nvSpPr>
        <p:spPr>
          <a:xfrm>
            <a:off x="545009" y="1275829"/>
            <a:ext cx="2313905" cy="109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APPLICATION 2 — RECOMMENDATION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73943" y="1467669"/>
            <a:ext cx="8196114" cy="389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Recommended: Hash Map (Hash Table)</a:t>
            </a:r>
            <a:endParaRPr lang="en-US" sz="2450" dirty="0"/>
          </a:p>
        </p:txBody>
      </p:sp>
      <p:sp>
        <p:nvSpPr>
          <p:cNvPr id="5" name="Text 3"/>
          <p:cNvSpPr/>
          <p:nvPr/>
        </p:nvSpPr>
        <p:spPr>
          <a:xfrm>
            <a:off x="473943" y="2035076"/>
            <a:ext cx="8196114" cy="3790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</a:t>
            </a:r>
            <a:r>
              <a:rPr lang="en-US" sz="900" b="1" dirty="0">
                <a:solidFill>
                  <a:srgbClr val="38465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Hash Map</a:t>
            </a: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is the optimal choice for dictionary word lookup. It uses a </a:t>
            </a:r>
            <a:r>
              <a:rPr lang="en-US" sz="900" dirty="0">
                <a:solidFill>
                  <a:srgbClr val="2589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hash function</a:t>
            </a: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to map each word (key) to a unique index, enabling average-case </a:t>
            </a:r>
            <a:r>
              <a:rPr lang="en-US" sz="900" b="1" dirty="0">
                <a:solidFill>
                  <a:srgbClr val="38465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O(1) search, insert, and delete</a:t>
            </a: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operations — regardless of dictionary size.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73943" y="2665884"/>
            <a:ext cx="3953545" cy="194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73943" y="2979167"/>
            <a:ext cx="3953545" cy="8824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82880" indent="-182880" algn="l">
              <a:lnSpc>
                <a:spcPct val="133000"/>
              </a:lnSpc>
              <a:buSzPct val="100000"/>
              <a:buChar char="•"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Word "apple" → hash function → index 42</a:t>
            </a:r>
            <a:endParaRPr lang="en-US" sz="900" dirty="0"/>
          </a:p>
          <a:p>
            <a:pPr marL="182880" indent="-182880" algn="l">
              <a:lnSpc>
                <a:spcPct val="133000"/>
              </a:lnSpc>
              <a:buSzPct val="100000"/>
              <a:buChar char="•"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Store value (definition) at bucket 42</a:t>
            </a:r>
            <a:endParaRPr lang="en-US" sz="900" dirty="0"/>
          </a:p>
          <a:p>
            <a:pPr marL="182880" indent="-182880" algn="l">
              <a:lnSpc>
                <a:spcPct val="133000"/>
              </a:lnSpc>
              <a:buSzPct val="100000"/>
              <a:buChar char="•"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Lookup "apple" → recompute hash → O(1) access</a:t>
            </a:r>
            <a:endParaRPr lang="en-US" sz="900" dirty="0"/>
          </a:p>
          <a:p>
            <a:pPr marL="182880" indent="-182880" algn="l">
              <a:lnSpc>
                <a:spcPct val="133000"/>
              </a:lnSpc>
              <a:buSzPct val="100000"/>
              <a:buChar char="•"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Collisions handled via chaining or open addressing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635996" y="2547417"/>
            <a:ext cx="4124102" cy="1355675"/>
          </a:xfrm>
          <a:prstGeom prst="roundRect">
            <a:avLst>
              <a:gd name="adj" fmla="val 20976"/>
            </a:avLst>
          </a:prstGeom>
          <a:solidFill>
            <a:srgbClr val="063E5F"/>
          </a:solidFill>
          <a:ln/>
        </p:spPr>
      </p:sp>
      <p:sp>
        <p:nvSpPr>
          <p:cNvPr id="9" name="Text 7"/>
          <p:cNvSpPr/>
          <p:nvPr/>
        </p:nvSpPr>
        <p:spPr>
          <a:xfrm>
            <a:off x="4754463" y="2665884"/>
            <a:ext cx="3887167" cy="194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Why Hash Map?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54463" y="2979167"/>
            <a:ext cx="3887167" cy="8824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82880" indent="-182880" algn="l">
              <a:lnSpc>
                <a:spcPct val="133000"/>
              </a:lnSpc>
              <a:buSzPct val="100000"/>
              <a:buChar char="•"/>
            </a:pPr>
            <a:r>
              <a:rPr lang="en-US" sz="9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Average O(1)</a:t>
            </a:r>
            <a:r>
              <a:rPr lang="en-US" sz="9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lookup — fastest possible</a:t>
            </a:r>
            <a:endParaRPr lang="en-US" sz="900" dirty="0"/>
          </a:p>
          <a:p>
            <a:pPr marL="182880" indent="-182880" algn="l">
              <a:lnSpc>
                <a:spcPct val="133000"/>
              </a:lnSpc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Scales to millions of entries</a:t>
            </a:r>
            <a:endParaRPr lang="en-US" sz="900" dirty="0"/>
          </a:p>
          <a:p>
            <a:pPr marL="182880" indent="-182880" algn="l">
              <a:lnSpc>
                <a:spcPct val="133000"/>
              </a:lnSpc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Simple insert/delete operations</a:t>
            </a:r>
            <a:endParaRPr lang="en-US" sz="900" dirty="0"/>
          </a:p>
          <a:p>
            <a:pPr marL="182880" indent="-182880" algn="l">
              <a:lnSpc>
                <a:spcPct val="133000"/>
              </a:lnSpc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 sorting required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600450" cy="51435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90530" y="100"/>
                </a:lnTo>
                <a:lnTo>
                  <a:pt x="93070" y="6350"/>
                </a:lnTo>
                <a:lnTo>
                  <a:pt x="94920" y="12210"/>
                </a:lnTo>
                <a:lnTo>
                  <a:pt x="96680" y="19820"/>
                </a:lnTo>
                <a:lnTo>
                  <a:pt x="97560" y="25880"/>
                </a:lnTo>
                <a:lnTo>
                  <a:pt x="97950" y="30960"/>
                </a:lnTo>
                <a:lnTo>
                  <a:pt x="97950" y="39060"/>
                </a:lnTo>
                <a:lnTo>
                  <a:pt x="97270" y="46480"/>
                </a:lnTo>
                <a:lnTo>
                  <a:pt x="96190" y="52640"/>
                </a:lnTo>
                <a:lnTo>
                  <a:pt x="94730" y="58500"/>
                </a:lnTo>
                <a:lnTo>
                  <a:pt x="92480" y="65230"/>
                </a:lnTo>
                <a:lnTo>
                  <a:pt x="89550" y="72070"/>
                </a:lnTo>
                <a:lnTo>
                  <a:pt x="86820" y="77340"/>
                </a:lnTo>
                <a:lnTo>
                  <a:pt x="83500" y="82810"/>
                </a:lnTo>
                <a:lnTo>
                  <a:pt x="79200" y="88870"/>
                </a:lnTo>
                <a:lnTo>
                  <a:pt x="75880" y="92770"/>
                </a:lnTo>
                <a:lnTo>
                  <a:pt x="75880" y="92970"/>
                </a:lnTo>
                <a:lnTo>
                  <a:pt x="74510" y="94340"/>
                </a:lnTo>
                <a:lnTo>
                  <a:pt x="74510" y="94530"/>
                </a:lnTo>
                <a:lnTo>
                  <a:pt x="69240" y="100000"/>
                </a:lnTo>
                <a:lnTo>
                  <a:pt x="0" y="100000"/>
                </a:lnTo>
                <a:close/>
              </a:path>
            </a:pathLst>
          </a:custGeom>
        </p:spPr>
      </p:pic>
      <p:sp>
        <p:nvSpPr>
          <p:cNvPr id="3" name="Shape 0"/>
          <p:cNvSpPr/>
          <p:nvPr/>
        </p:nvSpPr>
        <p:spPr>
          <a:xfrm>
            <a:off x="3902943" y="363513"/>
            <a:ext cx="1332905" cy="137740"/>
          </a:xfrm>
          <a:prstGeom prst="roundRect">
            <a:avLst>
              <a:gd name="adj" fmla="val 79033"/>
            </a:avLst>
          </a:prstGeom>
          <a:solidFill>
            <a:srgbClr val="D4E9F7"/>
          </a:solidFill>
          <a:ln/>
        </p:spPr>
      </p:sp>
      <p:sp>
        <p:nvSpPr>
          <p:cNvPr id="4" name="Text 1"/>
          <p:cNvSpPr/>
          <p:nvPr/>
        </p:nvSpPr>
        <p:spPr>
          <a:xfrm>
            <a:off x="3957340" y="390674"/>
            <a:ext cx="1681311" cy="83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5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APPLICATION 2 — JUSTIFICATION</a:t>
            </a:r>
            <a:endParaRPr lang="en-US" sz="550" dirty="0"/>
          </a:p>
        </p:txBody>
      </p:sp>
      <p:sp>
        <p:nvSpPr>
          <p:cNvPr id="5" name="Text 2"/>
          <p:cNvSpPr/>
          <p:nvPr/>
        </p:nvSpPr>
        <p:spPr>
          <a:xfrm>
            <a:off x="3902943" y="529010"/>
            <a:ext cx="4767114" cy="298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Search Performance Analysis</a:t>
            </a:r>
            <a:endParaRPr lang="en-US" sz="18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02943" y="931590"/>
            <a:ext cx="4767114" cy="91001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232066" y="999604"/>
            <a:ext cx="108793" cy="1360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1</a:t>
            </a:r>
            <a:endParaRPr lang="en-US" sz="850" dirty="0"/>
          </a:p>
        </p:txBody>
      </p:sp>
      <p:sp>
        <p:nvSpPr>
          <p:cNvPr id="8" name="Text 4"/>
          <p:cNvSpPr/>
          <p:nvPr/>
        </p:nvSpPr>
        <p:spPr>
          <a:xfrm>
            <a:off x="4003179" y="1294358"/>
            <a:ext cx="4566642" cy="149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Average Case: O(1)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4003179" y="1485230"/>
            <a:ext cx="4566642" cy="2561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With a good hash function, any word lookup completes in constant time — the gold standard for search performance.</a:t>
            </a:r>
            <a:endParaRPr lang="en-US" sz="7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02943" y="1911028"/>
            <a:ext cx="4767114" cy="91001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232066" y="1979042"/>
            <a:ext cx="108793" cy="1360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2</a:t>
            </a:r>
            <a:endParaRPr lang="en-US" sz="850" dirty="0"/>
          </a:p>
        </p:txBody>
      </p:sp>
      <p:sp>
        <p:nvSpPr>
          <p:cNvPr id="12" name="Text 7"/>
          <p:cNvSpPr/>
          <p:nvPr/>
        </p:nvSpPr>
        <p:spPr>
          <a:xfrm>
            <a:off x="4003179" y="2273796"/>
            <a:ext cx="4566642" cy="149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Worst Case: O(n)</a:t>
            </a:r>
            <a:endParaRPr lang="en-US" sz="900" dirty="0"/>
          </a:p>
        </p:txBody>
      </p:sp>
      <p:sp>
        <p:nvSpPr>
          <p:cNvPr id="13" name="Text 8"/>
          <p:cNvSpPr/>
          <p:nvPr/>
        </p:nvSpPr>
        <p:spPr>
          <a:xfrm>
            <a:off x="4003179" y="2464668"/>
            <a:ext cx="4566642" cy="2561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Occurs only with poor hash functions causing many collisions. Mitigated by rehashing and load factor management.</a:t>
            </a:r>
            <a:endParaRPr lang="en-US" sz="7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02943" y="2890465"/>
            <a:ext cx="4767114" cy="91001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232066" y="2958480"/>
            <a:ext cx="108793" cy="1360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3</a:t>
            </a:r>
            <a:endParaRPr lang="en-US" sz="850" dirty="0"/>
          </a:p>
        </p:txBody>
      </p:sp>
      <p:sp>
        <p:nvSpPr>
          <p:cNvPr id="16" name="Text 10"/>
          <p:cNvSpPr/>
          <p:nvPr/>
        </p:nvSpPr>
        <p:spPr>
          <a:xfrm>
            <a:off x="4003179" y="3253234"/>
            <a:ext cx="4566642" cy="149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Space Efficiency</a:t>
            </a:r>
            <a:endParaRPr lang="en-US" sz="900" dirty="0"/>
          </a:p>
        </p:txBody>
      </p:sp>
      <p:sp>
        <p:nvSpPr>
          <p:cNvPr id="17" name="Text 11"/>
          <p:cNvSpPr/>
          <p:nvPr/>
        </p:nvSpPr>
        <p:spPr>
          <a:xfrm>
            <a:off x="4003179" y="3444106"/>
            <a:ext cx="4566642" cy="2561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Hash Maps use O(n) space. Load factor controls the balance between memory usage and collision rate.</a:t>
            </a:r>
            <a:endParaRPr lang="en-US" sz="700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02943" y="3869903"/>
            <a:ext cx="4767114" cy="91001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6232066" y="3937918"/>
            <a:ext cx="108793" cy="1360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4</a:t>
            </a:r>
            <a:endParaRPr lang="en-US" sz="850" dirty="0"/>
          </a:p>
        </p:txBody>
      </p:sp>
      <p:sp>
        <p:nvSpPr>
          <p:cNvPr id="20" name="Text 13"/>
          <p:cNvSpPr/>
          <p:nvPr/>
        </p:nvSpPr>
        <p:spPr>
          <a:xfrm>
            <a:off x="4003179" y="4232672"/>
            <a:ext cx="4566642" cy="149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Alternative: Trie</a:t>
            </a:r>
            <a:endParaRPr lang="en-US" sz="900" dirty="0"/>
          </a:p>
        </p:txBody>
      </p:sp>
      <p:sp>
        <p:nvSpPr>
          <p:cNvPr id="21" name="Text 14"/>
          <p:cNvSpPr/>
          <p:nvPr/>
        </p:nvSpPr>
        <p:spPr>
          <a:xfrm>
            <a:off x="4003179" y="4423544"/>
            <a:ext cx="4566642" cy="2561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Trie offers O(m) prefix search (m = word length) and is useful for autocomplete — a common dictionary feature.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3943" y="1145604"/>
            <a:ext cx="876374" cy="180008"/>
          </a:xfrm>
          <a:prstGeom prst="roundRect">
            <a:avLst>
              <a:gd name="adj" fmla="val 78988"/>
            </a:avLst>
          </a:prstGeom>
          <a:solidFill>
            <a:srgbClr val="D4E9F7"/>
          </a:solidFill>
          <a:ln/>
        </p:spPr>
      </p:sp>
      <p:sp>
        <p:nvSpPr>
          <p:cNvPr id="3" name="Text 1"/>
          <p:cNvSpPr/>
          <p:nvPr/>
        </p:nvSpPr>
        <p:spPr>
          <a:xfrm>
            <a:off x="545009" y="1181100"/>
            <a:ext cx="1191444" cy="109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APPLICATION 3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73943" y="1372939"/>
            <a:ext cx="8196114" cy="389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Task Scheduling by Priority</a:t>
            </a:r>
            <a:endParaRPr lang="en-US" sz="2450" dirty="0"/>
          </a:p>
        </p:txBody>
      </p:sp>
      <p:sp>
        <p:nvSpPr>
          <p:cNvPr id="5" name="Text 3"/>
          <p:cNvSpPr/>
          <p:nvPr/>
        </p:nvSpPr>
        <p:spPr>
          <a:xfrm>
            <a:off x="473943" y="1940347"/>
            <a:ext cx="8196114" cy="5685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task scheduling system must </a:t>
            </a:r>
            <a:r>
              <a:rPr lang="en-US" sz="900" b="1" dirty="0">
                <a:solidFill>
                  <a:srgbClr val="38465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assign jobs based on execution priority levels</a:t>
            </a: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— high-priority tasks must always be processed before lower-priority ones. The data structure must efficiently retrieve the highest-priority task and support dynamic insertion of new tasks at any priority level.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88665" y="2642220"/>
            <a:ext cx="4124102" cy="1355675"/>
          </a:xfrm>
          <a:prstGeom prst="roundRect">
            <a:avLst>
              <a:gd name="adj" fmla="val 20976"/>
            </a:avLst>
          </a:prstGeom>
          <a:solidFill>
            <a:srgbClr val="063E5F"/>
          </a:solidFill>
          <a:ln/>
        </p:spPr>
      </p:sp>
      <p:sp>
        <p:nvSpPr>
          <p:cNvPr id="7" name="Text 5"/>
          <p:cNvSpPr/>
          <p:nvPr/>
        </p:nvSpPr>
        <p:spPr>
          <a:xfrm>
            <a:off x="507132" y="2760687"/>
            <a:ext cx="3887167" cy="194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Core Requirements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7132" y="3073971"/>
            <a:ext cx="3887167" cy="8824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82880" indent="-182880" algn="l">
              <a:lnSpc>
                <a:spcPct val="133000"/>
              </a:lnSpc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Always extract the </a:t>
            </a:r>
            <a:r>
              <a:rPr lang="en-US" sz="900" b="1" dirty="0">
                <a:solidFill>
                  <a:srgbClr val="FFFFF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highest-priority</a:t>
            </a:r>
            <a:r>
              <a:rPr lang="en-US" sz="9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task first</a:t>
            </a:r>
            <a:endParaRPr lang="en-US" sz="900" dirty="0"/>
          </a:p>
          <a:p>
            <a:pPr marL="182880" indent="-182880" algn="l">
              <a:lnSpc>
                <a:spcPct val="133000"/>
              </a:lnSpc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Insert new tasks at arbitrary priority levels</a:t>
            </a:r>
            <a:endParaRPr lang="en-US" sz="900" dirty="0"/>
          </a:p>
          <a:p>
            <a:pPr marL="182880" indent="-182880" algn="l">
              <a:lnSpc>
                <a:spcPct val="133000"/>
              </a:lnSpc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Update priority of existing tasks</a:t>
            </a:r>
            <a:endParaRPr lang="en-US" sz="900" dirty="0"/>
          </a:p>
          <a:p>
            <a:pPr marL="182880" indent="-182880" algn="l">
              <a:lnSpc>
                <a:spcPct val="133000"/>
              </a:lnSpc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Handle thousands of concurrent tasks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721275" y="2760687"/>
            <a:ext cx="3953545" cy="194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Real-World Examples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21275" y="3073971"/>
            <a:ext cx="3953545" cy="8824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82880" indent="-182880" algn="l">
              <a:lnSpc>
                <a:spcPct val="133000"/>
              </a:lnSpc>
              <a:buSzPct val="100000"/>
              <a:buChar char="•"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OS process schedulers</a:t>
            </a:r>
            <a:endParaRPr lang="en-US" sz="900" dirty="0"/>
          </a:p>
          <a:p>
            <a:pPr marL="182880" indent="-182880" algn="l">
              <a:lnSpc>
                <a:spcPct val="133000"/>
              </a:lnSpc>
              <a:buSzPct val="100000"/>
              <a:buChar char="•"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Emergency room patient triage</a:t>
            </a:r>
            <a:endParaRPr lang="en-US" sz="900" dirty="0"/>
          </a:p>
          <a:p>
            <a:pPr marL="182880" indent="-182880" algn="l">
              <a:lnSpc>
                <a:spcPct val="133000"/>
              </a:lnSpc>
              <a:buSzPct val="100000"/>
              <a:buChar char="•"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Network packet routing</a:t>
            </a:r>
            <a:endParaRPr lang="en-US" sz="900" dirty="0"/>
          </a:p>
          <a:p>
            <a:pPr marL="182880" indent="-182880" algn="l">
              <a:lnSpc>
                <a:spcPct val="133000"/>
              </a:lnSpc>
              <a:buSzPct val="100000"/>
              <a:buChar char="•"/>
            </a:pPr>
            <a:r>
              <a:rPr lang="en-US" sz="9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Print spooler queues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3943" y="325785"/>
            <a:ext cx="1309613" cy="89892"/>
          </a:xfrm>
          <a:prstGeom prst="roundRect">
            <a:avLst>
              <a:gd name="adj" fmla="val 79086"/>
            </a:avLst>
          </a:prstGeom>
          <a:solidFill>
            <a:srgbClr val="D4E9F7"/>
          </a:solidFill>
          <a:ln/>
        </p:spPr>
      </p:sp>
      <p:sp>
        <p:nvSpPr>
          <p:cNvPr id="3" name="Text 1"/>
          <p:cNvSpPr/>
          <p:nvPr/>
        </p:nvSpPr>
        <p:spPr>
          <a:xfrm>
            <a:off x="509439" y="343495"/>
            <a:ext cx="1695822" cy="54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3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APPLICATION 3 — RECOMMENDATION &amp; SUMMARY</a:t>
            </a:r>
            <a:endParaRPr lang="en-US" sz="350" dirty="0"/>
          </a:p>
        </p:txBody>
      </p:sp>
      <p:sp>
        <p:nvSpPr>
          <p:cNvPr id="4" name="Text 2"/>
          <p:cNvSpPr/>
          <p:nvPr/>
        </p:nvSpPr>
        <p:spPr>
          <a:xfrm>
            <a:off x="473943" y="427509"/>
            <a:ext cx="8196114" cy="194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Recommended: Priority Queue (Binary Heap)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73943" y="666750"/>
            <a:ext cx="8653314" cy="710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</a:t>
            </a:r>
            <a:r>
              <a:rPr lang="en-US" sz="450" b="1" dirty="0">
                <a:solidFill>
                  <a:srgbClr val="38465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Priority Queue</a:t>
            </a:r>
            <a:r>
              <a:rPr lang="en-US" sz="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implemented as a </a:t>
            </a:r>
            <a:r>
              <a:rPr lang="en-US" sz="450" dirty="0">
                <a:solidFill>
                  <a:srgbClr val="2589C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Binary Heap</a:t>
            </a:r>
            <a:r>
              <a:rPr lang="en-US" sz="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is the ideal structure. It guarantees O(1) access to the highest-priority element and O(log n) insertion — perfect for high-throughput scheduling systems.</a:t>
            </a:r>
            <a:endParaRPr lang="en-US" sz="450" dirty="0"/>
          </a:p>
        </p:txBody>
      </p:sp>
      <p:sp>
        <p:nvSpPr>
          <p:cNvPr id="6" name="Shape 4"/>
          <p:cNvSpPr/>
          <p:nvPr/>
        </p:nvSpPr>
        <p:spPr>
          <a:xfrm>
            <a:off x="473943" y="771079"/>
            <a:ext cx="2712244" cy="314251"/>
          </a:xfrm>
          <a:prstGeom prst="roundRect">
            <a:avLst>
              <a:gd name="adj" fmla="val 28278"/>
            </a:avLst>
          </a:prstGeom>
          <a:solidFill>
            <a:srgbClr val="D4E9F7"/>
          </a:solidFill>
          <a:ln w="4763">
            <a:solidFill>
              <a:srgbClr val="BACF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7939" y="835075"/>
            <a:ext cx="2584252" cy="974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Extract-Max: O(1)</a:t>
            </a:r>
            <a:endParaRPr lang="en-US" sz="600" dirty="0"/>
          </a:p>
        </p:txBody>
      </p:sp>
      <p:sp>
        <p:nvSpPr>
          <p:cNvPr id="8" name="Text 6"/>
          <p:cNvSpPr/>
          <p:nvPr/>
        </p:nvSpPr>
        <p:spPr>
          <a:xfrm>
            <a:off x="537939" y="950268"/>
            <a:ext cx="2584252" cy="710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Highest-priority task always at root — instant retrieval</a:t>
            </a:r>
            <a:endParaRPr lang="en-US" sz="450" dirty="0"/>
          </a:p>
        </p:txBody>
      </p:sp>
      <p:sp>
        <p:nvSpPr>
          <p:cNvPr id="9" name="Shape 7"/>
          <p:cNvSpPr/>
          <p:nvPr/>
        </p:nvSpPr>
        <p:spPr>
          <a:xfrm>
            <a:off x="3215804" y="771079"/>
            <a:ext cx="2712318" cy="314251"/>
          </a:xfrm>
          <a:prstGeom prst="roundRect">
            <a:avLst>
              <a:gd name="adj" fmla="val 28278"/>
            </a:avLst>
          </a:prstGeom>
          <a:solidFill>
            <a:srgbClr val="D4E9F7"/>
          </a:solidFill>
          <a:ln w="4763">
            <a:solidFill>
              <a:srgbClr val="BACF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79800" y="835075"/>
            <a:ext cx="2584326" cy="974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Insert: O(log n)</a:t>
            </a:r>
            <a:endParaRPr lang="en-US" sz="600" dirty="0"/>
          </a:p>
        </p:txBody>
      </p:sp>
      <p:sp>
        <p:nvSpPr>
          <p:cNvPr id="11" name="Text 9"/>
          <p:cNvSpPr/>
          <p:nvPr/>
        </p:nvSpPr>
        <p:spPr>
          <a:xfrm>
            <a:off x="3279800" y="950268"/>
            <a:ext cx="2584326" cy="710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New tasks bubble up to maintain heap property</a:t>
            </a:r>
            <a:endParaRPr lang="en-US" sz="450" dirty="0"/>
          </a:p>
        </p:txBody>
      </p:sp>
      <p:sp>
        <p:nvSpPr>
          <p:cNvPr id="12" name="Shape 10"/>
          <p:cNvSpPr/>
          <p:nvPr/>
        </p:nvSpPr>
        <p:spPr>
          <a:xfrm>
            <a:off x="5957739" y="771079"/>
            <a:ext cx="2712318" cy="314251"/>
          </a:xfrm>
          <a:prstGeom prst="roundRect">
            <a:avLst>
              <a:gd name="adj" fmla="val 28278"/>
            </a:avLst>
          </a:prstGeom>
          <a:solidFill>
            <a:srgbClr val="D4E9F7"/>
          </a:solidFill>
          <a:ln w="4763">
            <a:solidFill>
              <a:srgbClr val="BACF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21735" y="835075"/>
            <a:ext cx="2584326" cy="974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Space: O(n)</a:t>
            </a:r>
            <a:endParaRPr lang="en-US" sz="600" dirty="0"/>
          </a:p>
        </p:txBody>
      </p:sp>
      <p:sp>
        <p:nvSpPr>
          <p:cNvPr id="14" name="Text 12"/>
          <p:cNvSpPr/>
          <p:nvPr/>
        </p:nvSpPr>
        <p:spPr>
          <a:xfrm>
            <a:off x="6021735" y="950268"/>
            <a:ext cx="2584326" cy="710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Compact array-based representation, cache-friendly</a:t>
            </a:r>
            <a:endParaRPr lang="en-US" sz="450" dirty="0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943" y="1118592"/>
            <a:ext cx="8196114" cy="4541416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3784370" y="3098499"/>
            <a:ext cx="1730723" cy="238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Binary Heap PQ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3784370" y="3401249"/>
            <a:ext cx="1730723" cy="2716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O(1) access, O(log n) updates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340834" y="3238868"/>
            <a:ext cx="1906436" cy="238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Peek Highest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6295931" y="3541619"/>
            <a:ext cx="1996368" cy="1358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O(1) — view root node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883020" y="4398050"/>
            <a:ext cx="1906436" cy="238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Extract &amp; Execute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838117" y="4700801"/>
            <a:ext cx="1996368" cy="135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O(log n) — heapify down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1108417" y="1633422"/>
            <a:ext cx="1906436" cy="238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Insert Task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1063514" y="1936173"/>
            <a:ext cx="1996368" cy="2716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O(log n) — bubble up new element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473943" y="5693271"/>
            <a:ext cx="8653314" cy="710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Across all three applications: </a:t>
            </a:r>
            <a:r>
              <a:rPr lang="en-US" sz="450" b="1" dirty="0">
                <a:solidFill>
                  <a:srgbClr val="38465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Doubly Linked List</a:t>
            </a:r>
            <a:r>
              <a:rPr lang="en-US" sz="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powers dynamic playlists, </a:t>
            </a:r>
            <a:r>
              <a:rPr lang="en-US" sz="450" b="1" dirty="0">
                <a:solidFill>
                  <a:srgbClr val="38465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Hash Map</a:t>
            </a:r>
            <a:r>
              <a:rPr lang="en-US" sz="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enables instant dictionary lookups, and </a:t>
            </a:r>
            <a:r>
              <a:rPr lang="en-US" sz="450" b="1" dirty="0">
                <a:solidFill>
                  <a:srgbClr val="38465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Priority Queue</a:t>
            </a:r>
            <a:r>
              <a:rPr lang="en-US" sz="4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drives efficient task scheduling — each chosen for optimal flexibility and performance in its domain.</a:t>
            </a:r>
            <a:endParaRPr lang="en-US" sz="450" dirty="0"/>
          </a:p>
        </p:txBody>
      </p:sp>
      <p:sp>
        <p:nvSpPr>
          <p:cNvPr id="25" name="Shape 22"/>
          <p:cNvSpPr/>
          <p:nvPr/>
        </p:nvSpPr>
        <p:spPr>
          <a:xfrm>
            <a:off x="473943" y="5797600"/>
            <a:ext cx="816471" cy="89892"/>
          </a:xfrm>
          <a:prstGeom prst="roundRect">
            <a:avLst>
              <a:gd name="adj" fmla="val 79086"/>
            </a:avLst>
          </a:prstGeom>
          <a:noFill/>
          <a:ln w="4763">
            <a:solidFill>
              <a:srgbClr val="75BAE6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09439" y="5815310"/>
            <a:ext cx="1202680" cy="54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350" dirty="0">
                <a:solidFill>
                  <a:srgbClr val="75BA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CSA0303 — DATA STRUCTURES</a:t>
            </a:r>
            <a:endParaRPr lang="en-US" sz="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1094</Words>
  <Application>Microsoft Office PowerPoint</Application>
  <PresentationFormat>On-screen Show (16:9)</PresentationFormat>
  <Paragraphs>131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Montserrat</vt:lpstr>
      <vt:lpstr>Montserrat Bold</vt:lpstr>
      <vt:lpstr>Barlow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Deekshith Thota</dc:creator>
  <cp:lastModifiedBy>Deekshith Thota</cp:lastModifiedBy>
  <cp:revision>2</cp:revision>
  <dcterms:created xsi:type="dcterms:W3CDTF">2026-07-25T03:21:28Z</dcterms:created>
  <dcterms:modified xsi:type="dcterms:W3CDTF">2026-07-25T03:30:08Z</dcterms:modified>
</cp:coreProperties>
</file>